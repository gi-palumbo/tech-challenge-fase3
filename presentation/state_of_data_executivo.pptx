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920240"/>
            <a:ext cx="1645920" cy="635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 mercado brasileiro de Dados e IA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C9D4E3"/>
                </a:solidFill>
                <a:latin typeface="Calibri"/>
              </a:rPr>
              <a:t>Evidências para decisão a partir do State of Data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79A1E"/>
                </a:solidFill>
                <a:latin typeface="Calibri"/>
              </a:rPr>
              <a:t>Tech Challenge — Fase 3 | Engenharia de Dados e Analytics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Pipeline Bronze/Silver/Gold na AWS  •  3 edições  •  14.005 respondentes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5B1"/>
                </a:solidFill>
                <a:latin typeface="Calibri"/>
              </a:rPr>
              <a:t>Integrantes: ____________________     Curso/Turma: ____________     Data: ____/____/____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 problema de negócio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Este material responde quatro perguntas de decisão com dados reais do mercado.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B2545"/>
                </a:solidFill>
                <a:latin typeface="Calibri"/>
              </a:rPr>
              <a:t>Uma instituição financeira de grande porte quer expandir sua área de Dados, Analytics e IA. Para investir com segurança, precisa de evidências sobre o mercado brasileiro de profissionais de dados.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44068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777240" cy="155448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777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C79A1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14016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Quanto custa cada perfil?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Em que ponto da carreira o salário salta e quanto pagam os setores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44068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777240" cy="155448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286000"/>
            <a:ext cx="777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C79A1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414016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Em quais tecnologias investir?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Quais ferramentas dominam e quais crescem nas últimas edições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44068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69080"/>
            <a:ext cx="777240" cy="155448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777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C79A1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97096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IA generativa: diferencial ou requisito?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Qual a adoção real e se usar IA ainda paga mais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069080"/>
            <a:ext cx="544068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069080"/>
            <a:ext cx="777240" cy="155448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069080"/>
            <a:ext cx="7772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C79A1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97096"/>
            <a:ext cx="4297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Onde e como buscar talento?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Diferenças por região, modelo de trabalho e funil de diversidade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Os dados utilizados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Três edições da maior pesquisa do ecossistema de dados do Brasil.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9494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708"/>
                <a:gridCol w="1806854"/>
                <a:gridCol w="1528876"/>
              </a:tblGrid>
              <a:tr h="4389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Edição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Ano de referência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Respondentes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State of Data Brazil 2023-2024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5.293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State of Data Brazil 2024-2025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5.217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State of Data Brazil 2025-2026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3.495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14.005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14800"/>
            <a:ext cx="69494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Fonte: Data Hackers + Bain &amp; Company, via Kaggle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470"/>
                </a:solidFill>
                <a:latin typeface="Calibri"/>
              </a:rPr>
              <a:t>388 a 403 perguntas por edição: perfil, remuneração, tecnologias, formação, IA generativa e satisfação.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371600"/>
            <a:ext cx="3749039" cy="411480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246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79A1E"/>
                </a:solidFill>
                <a:latin typeface="Calibri"/>
              </a:rPr>
              <a:t>Por que esta fonte?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Maior amostra setorial do país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Perguntas consistentes entre edições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Renda em faixas padronizadas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Recorte específico de tecnologias de dados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9D4E3"/>
                </a:solidFill>
                <a:latin typeface="Calibri"/>
              </a:rPr>
              <a:t>Limitação: amostra voluntária, com viés para profissionais engajados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Arquitetura da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CSV do Kaggle → S3 → Glue Jobs em Spark → Bronze/Silver/Gold → Catálogo → Athena e Notebook.</a:t>
            </a:r>
          </a:p>
        </p:txBody>
      </p:sp>
      <p:pic>
        <p:nvPicPr>
          <p:cNvPr id="8" name="Picture 7" descr="arquitetura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0443"/>
            <a:ext cx="11064240" cy="4239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Estratégia de dados em camadas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A camada Silver é o que torna a comparação entre anos possível: três questionários diferentes viram um único modelo canônico.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/>
                <a:gridCol w="5532120"/>
                <a:gridCol w="3983126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Camada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Conteúdo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Volume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Bronze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CSV bruto das 3 edições, imutável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3 arquivos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Modelo canônico unificado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14.005 linhas x 30 colunas + 93.706 linhas de tecnologias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7 tabelas agregadas por pergunta de negócio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2545"/>
                          </a:solidFill>
                          <a:latin typeface="Calibri"/>
                        </a:rPr>
                        <a:t>~1.500 linhas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023360"/>
            <a:ext cx="11064240" cy="1600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63500" cy="1600200"/>
          </a:xfrm>
          <a:prstGeom prst="rect">
            <a:avLst/>
          </a:prstGeom>
          <a:solidFill>
            <a:srgbClr val="1D7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D7874"/>
                </a:solidFill>
                <a:latin typeface="Calibri"/>
              </a:rPr>
              <a:t>O desafio técnico central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Cada edição tem questionário diferente: em 2023 o cabeçalho é ('P2_h ', 'Faixa salarial'); em 2024/2025 é '2.h_faixa_salarial'. A seção de tecnologias foi renumerada em 2025 (BI 4.j → 4.g).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470"/>
                </a:solidFill>
                <a:latin typeface="Calibri"/>
              </a:rPr>
              <a:t>Um mapeamento por ano de referência resolve os três formatos e gera um esquema único, versionado em config/mapeamento_colunas.json.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Tratamento de dados: quatro decisões que mudaram o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Sem esses ajustes, as conclusões seriam materialmente erradas.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642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841"/>
                <a:gridCol w="3540556"/>
                <a:gridCol w="3761841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Problema encontrado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Efeito se ignorado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Tratamento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Renda coletada em faixas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Todas as regiões dariam R$ 10.000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Mediana interpolada dentro da faixa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Cobertura de resposta cai de 71% → 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Toda tecnologia 'perderia' ~11 p.p.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Denominador = quem respondeu a questão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Gestor não responde nível de senioridade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2.668 gestores em 'Não informado'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Reclassificação via 'atua como gestor'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'Linguagem preferida' virou múltipla escolha em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SQL 'cresceria' de 1,4% para 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2545"/>
                          </a:solidFill>
                          <a:latin typeface="Calibri"/>
                        </a:rPr>
                        <a:t>Série excluída da comparação temporal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Exemplo real: com o denominador corrigido, a adoção de AWS deixa de ser uma queda aparente de 12 p.p. e passa a ser um crescimento de +6 p.p.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Como está estruturado o mercado?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Mercado concentrado em Pleno e Sênior; Analista de Dados é o cargo mais numeroso (599 em 2025).</a:t>
            </a:r>
          </a:p>
        </p:txBody>
      </p:sp>
      <p:pic>
        <p:nvPicPr>
          <p:cNvPr id="8" name="Picture 7" descr="01_perfil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4594"/>
            <a:ext cx="5669280" cy="3125972"/>
          </a:xfrm>
          <a:prstGeom prst="rect">
            <a:avLst/>
          </a:prstGeom>
        </p:spPr>
      </p:pic>
      <p:pic>
        <p:nvPicPr>
          <p:cNvPr id="9" name="Picture 8" descr="02_top_car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94576"/>
            <a:ext cx="5669280" cy="2806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Quanto custa cada perfil?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Júnior R$ 3.500 → Pleno R$ 7.505 → Sênior R$ 12.357 → Especialista R$ 17.326 → Gestão R$ 18.236.</a:t>
            </a:r>
          </a:p>
        </p:txBody>
      </p:sp>
      <p:pic>
        <p:nvPicPr>
          <p:cNvPr id="8" name="Picture 7" descr="03_salario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61672"/>
            <a:ext cx="6949440" cy="38260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89520" y="1463040"/>
            <a:ext cx="411480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65760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Leitura (2025)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O salto de carreira está entre Pleno e Sênior: +65%.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De Sênior para Gestão: +48%.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Júnior e Estagiário custam menos, mas exigem trilha de desenvolvimento.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B6470"/>
                </a:solidFill>
                <a:latin typeface="Calibri"/>
              </a:rPr>
              <a:t>Mediana interpolada dentro das faixas salariais da pesquisa.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Quais cargos pagam mais?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ML/AI Engineer lidera com R$ 16.251; Analytics Engineer (R$ 12.264) paga mais que Data Engineer e Data Scientist.</a:t>
            </a:r>
          </a:p>
        </p:txBody>
      </p:sp>
      <p:pic>
        <p:nvPicPr>
          <p:cNvPr id="8" name="Picture 7" descr="06_salario_por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47" y="1143000"/>
            <a:ext cx="951442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Vale investir em formação e experiência?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Experiência paga mais que título: +10 anos R$ 20.000; Mestrado/Doutorado ~R$ 15.300 vs Graduação R$ 8.929.</a:t>
            </a:r>
          </a:p>
        </p:txBody>
      </p:sp>
      <p:pic>
        <p:nvPicPr>
          <p:cNvPr id="8" name="Picture 7" descr="07_retorno_experi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87022"/>
            <a:ext cx="7223759" cy="35753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863840" y="1463040"/>
            <a:ext cx="384048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645920"/>
            <a:ext cx="338328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Leitura (2025)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Menos de 1 ano: R$ 3.406 → 5-6 anos: R$ 13.201 → +10 anos: R$ 20.000.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Mestrado R$ 15.262 e Doutorado R$ 15.408: retorno similar.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0B2545"/>
                </a:solidFill>
                <a:latin typeface="Calibri"/>
              </a:rPr>
              <a:t>Pós-graduação (R$ 11.815) já se paga vs Graduação (R$ 8.929).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Quais tecnologias têm maior adoção?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Power BI domina BI (59%); AWS lidera cloud em uso (48%); PostgreSQL é o banco mais citado (37%).</a:t>
            </a:r>
          </a:p>
        </p:txBody>
      </p:sp>
      <p:pic>
        <p:nvPicPr>
          <p:cNvPr id="8" name="Picture 7" descr="08_tecnologias_ferramenta_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94576"/>
            <a:ext cx="5669280" cy="2806007"/>
          </a:xfrm>
          <a:prstGeom prst="rect">
            <a:avLst/>
          </a:prstGeom>
        </p:spPr>
      </p:pic>
      <p:pic>
        <p:nvPicPr>
          <p:cNvPr id="9" name="Picture 8" descr="08_tecnologias_cloud_u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94576"/>
            <a:ext cx="5669280" cy="28060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Quais tecnologias crescem?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Databricks +11,5 p.p., PostgreSQL +8,4 p.p., S3 +7,9 p.p., AWS +6,0 p.p. — a stack migra para lakehouse e cloud.</a:t>
            </a:r>
          </a:p>
        </p:txBody>
      </p:sp>
      <p:pic>
        <p:nvPicPr>
          <p:cNvPr id="8" name="Picture 7" descr="09_evolucao_banco_d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5766"/>
            <a:ext cx="5669280" cy="3123628"/>
          </a:xfrm>
          <a:prstGeom prst="rect">
            <a:avLst/>
          </a:prstGeom>
        </p:spPr>
      </p:pic>
      <p:pic>
        <p:nvPicPr>
          <p:cNvPr id="9" name="Picture 8" descr="09_evolucao_ferramenta_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26343"/>
            <a:ext cx="5669280" cy="31424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IA generativa: diferencial ou requisito?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Adoção 80% → 94% → 97%. Com senioridade controlada, o salário de quem usa IA é equivalente: virou requisito básico.</a:t>
            </a:r>
          </a:p>
        </p:txBody>
      </p:sp>
      <p:pic>
        <p:nvPicPr>
          <p:cNvPr id="8" name="Picture 7" descr="10_adocao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6936"/>
            <a:ext cx="5669279" cy="3121288"/>
          </a:xfrm>
          <a:prstGeom prst="rect">
            <a:avLst/>
          </a:prstGeom>
        </p:spPr>
      </p:pic>
      <p:pic>
        <p:nvPicPr>
          <p:cNvPr id="9" name="Picture 8" descr="11_impacto_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36936"/>
            <a:ext cx="5669279" cy="31212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Como está a diversidade de gênero?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Funil, não teto único: participação feminina cai de 28% (Júnior) para 18% (Gestão); diferença salarial de ~13% no Sênior.</a:t>
            </a:r>
          </a:p>
        </p:txBody>
      </p:sp>
      <p:pic>
        <p:nvPicPr>
          <p:cNvPr id="8" name="Picture 7" descr="14_participacao_femi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36936"/>
            <a:ext cx="5669279" cy="3121288"/>
          </a:xfrm>
          <a:prstGeom prst="rect">
            <a:avLst/>
          </a:prstGeom>
        </p:spPr>
      </p:pic>
      <p:pic>
        <p:nvPicPr>
          <p:cNvPr id="9" name="Picture 8" descr="13_gap_salarial_gen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36936"/>
            <a:ext cx="5669279" cy="31212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Há diferenças por região e modelo de trabalho?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Remoto paga R$ 12.234 vs presencial R$ 6.635 (+84%). Sudeste concentra 64% das respostas e lidera remuneração.</a:t>
            </a:r>
          </a:p>
        </p:txBody>
      </p:sp>
      <p:pic>
        <p:nvPicPr>
          <p:cNvPr id="8" name="Picture 7" descr="04_salario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39386"/>
            <a:ext cx="5669280" cy="3516388"/>
          </a:xfrm>
          <a:prstGeom prst="rect">
            <a:avLst/>
          </a:prstGeom>
        </p:spPr>
      </p:pic>
      <p:pic>
        <p:nvPicPr>
          <p:cNvPr id="9" name="Picture 8" descr="05_salario_forma_trabal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936936"/>
            <a:ext cx="5669279" cy="31212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Principais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8640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8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79A1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98448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O salto de carreira está entre Pleno e Sênior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+65% de mediana (R$ 7.505 → R$ 12.357). É aí que a retenção importa mais.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3704"/>
            <a:ext cx="110642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03704"/>
            <a:ext cx="548640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03704"/>
            <a:ext cx="548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79A1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67712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IA generativa deixou de ser diferencial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97% de adoção em 2025 e salário equivalente ao de quem não usa, controlando senioridade.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72968"/>
            <a:ext cx="11064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72968"/>
            <a:ext cx="548640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72968"/>
            <a:ext cx="548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79A1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36976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Trabalho remoto paga 84% mais que presencial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R$ 12.234 vs R$ 6.635 — ainda que parte reflita o perfil de quem acessa vagas remotas.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42232"/>
            <a:ext cx="110642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142232"/>
            <a:ext cx="548640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42232"/>
            <a:ext cx="548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79A1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06240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Há um funil de gênero, não um teto único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Participação feminina cai progressivamente: 28% Júnior → 22% Pleno → 21% Sênior → 18% Gestão.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11496"/>
            <a:ext cx="110642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111496"/>
            <a:ext cx="548640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11496"/>
            <a:ext cx="5486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C79A1E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175504"/>
            <a:ext cx="10149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A stack migrou para lakehouse e cloud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Databricks +11,5 p.p., S3 +7,9 p.p. e AWS crescendo para 48% de uso.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Recomendações estratégicas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Sete ações concretas, cada uma ancorada em evidência dos dados.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"/>
                <a:gridCol w="5532120"/>
                <a:gridCol w="4978908"/>
              </a:tblGrid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Recomendação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Evidência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Calibrar faixas salariais por senioridade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Setor financeiro paga R$ 11.864 — 2º lugar, atrás de Internet (R$ 12.626)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Priorizar retenção na transição Pleno → Sênior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Salário salta 65% nesse ponto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Capacitar em Databricks, PostgreSQL e AWS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Tecnologias com maior crescimento (+11,5 / +8,4 / +6,0 p.p.)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Tratar IA como competência básica + política de licenciamento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97% de adoção, sem prêmio salarial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Contratar remoto/híbrido para sair do eixo Sudeste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Remoto paga mais, mas Nordeste tem custo 21% menor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Metas de diversidade por nível, não só no 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Funil de 28% (Júnior) a 18% (Gestão)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Formar pipeline interno de juniores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0B2545"/>
                          </a:solidFill>
                          <a:latin typeface="Calibri"/>
                        </a:rPr>
                        <a:t>Júnior custa R$ 3.500; Sênior, R$ 12.357 e é escasso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Limitações metodológicas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89320"/>
            <a:ext cx="11274552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989320"/>
            <a:ext cx="63500" cy="658368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035040"/>
            <a:ext cx="10927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Associação não é causalidade: nenhuma diferença salarial controla simultaneamente senioridade, setor, porte e região.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10642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63500" cy="8046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9304"/>
            <a:ext cx="106070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Amostra voluntária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respondentes da comunidade Data Hackers, com viés para profissionais engajados — não representa o mercado como um todo.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110642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67128"/>
            <a:ext cx="63500" cy="8046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21992"/>
            <a:ext cx="106070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Amostra decrescente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5.293 → 5.217 → 3.495; a edição 2025 tem ~1/3 menos respostas, ampliando a incerteza nos recortes menores.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99816"/>
            <a:ext cx="110642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63500" cy="8046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106070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Renda em faixas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faixas abertas no topo usam o limite inferior — subestima os salários mais altos.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32504"/>
            <a:ext cx="110642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032504"/>
            <a:ext cx="63500" cy="8046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87368"/>
            <a:ext cx="106070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Região Norte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apenas 36 respondentes com salário em 2025 — não sustenta conclusão regional isolada.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65192"/>
            <a:ext cx="1106424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65192"/>
            <a:ext cx="63500" cy="804672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20056"/>
            <a:ext cx="1060704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2545"/>
                </a:solidFill>
                <a:latin typeface="Calibri"/>
              </a:rPr>
              <a:t>Comparabilidade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B6470"/>
                </a:solidFill>
                <a:latin typeface="Calibri"/>
              </a:rPr>
              <a:t>o questionário muda entre edições; duas séries de linguagem foram excluídas da análise temporal por isso.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2377440" cy="50800"/>
          </a:xfrm>
          <a:prstGeom prst="rect">
            <a:avLst/>
          </a:prstGeom>
          <a:solidFill>
            <a:srgbClr val="C79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1338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Conclusão: as quatro perguntas respondidas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9A1E"/>
                </a:solidFill>
                <a:latin typeface="Calibri"/>
              </a:rPr>
              <a:t>Quanto custa cada perfil?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Júnior R$ 3.500, Pleno R$ 7.505, Sênior R$ 12.357, Gestão R$ 18.236 — orçamento deve prever o salto de 65% Pleno→Sênior.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50591"/>
            <a:ext cx="1106424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1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9A1E"/>
                </a:solidFill>
                <a:latin typeface="Calibri"/>
              </a:rPr>
              <a:t>Em quais tecnologias investir?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Power BI para visualização, AWS como cloud, PostgreSQL/Databricks como plataforma de dados em crescimento.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21024"/>
            <a:ext cx="11064240" cy="1005840"/>
          </a:xfrm>
          <a:prstGeom prst="rect">
            <a:avLst/>
          </a:prstGeom>
          <a:solidFill>
            <a:srgbClr val="13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12464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9A1E"/>
                </a:solidFill>
                <a:latin typeface="Calibri"/>
              </a:rPr>
              <a:t>IA: diferencial ou requisito?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Requisito. 97% de adoção e nenhum prêmio salarial — política de uso e licenças vale mais que contratação por skill.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91456"/>
            <a:ext cx="11064240" cy="100584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882896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9A1E"/>
                </a:solidFill>
                <a:latin typeface="Calibri"/>
              </a:rPr>
              <a:t>Onde e como buscar talento?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Remoto/híbrido amplia o acesso; Nordeste oferece custo menor; metas de diversidade devem ser por nível de senioridade.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Obrigado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4E3"/>
                </a:solidFill>
                <a:latin typeface="Calibri"/>
              </a:rPr>
              <a:t>Perguntas e discussão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5B1"/>
                </a:solidFill>
                <a:latin typeface="Calibri"/>
              </a:rPr>
              <a:t>Anexos: diagrama da arquitetura (drawio), inventário de colunas, scripts Glue/PySpark, consultas Athena e notebooks.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5B1"/>
                </a:solidFill>
                <a:latin typeface="Calibri"/>
              </a:rPr>
              <a:t>Todos os números reproduzíveis a partir de data/gold/ e data/graficos/.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